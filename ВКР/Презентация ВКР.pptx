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74" r:id="rId6"/>
    <p:sldId id="271" r:id="rId7"/>
    <p:sldId id="281" r:id="rId8"/>
    <p:sldId id="278" r:id="rId9"/>
    <p:sldId id="276" r:id="rId10"/>
    <p:sldId id="279" r:id="rId11"/>
    <p:sldId id="273" r:id="rId12"/>
    <p:sldId id="280" r:id="rId13"/>
    <p:sldId id="266" r:id="rId14"/>
    <p:sldId id="269" r:id="rId15"/>
    <p:sldId id="282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7" autoAdjust="0"/>
    <p:restoredTop sz="86347" autoAdjust="0"/>
  </p:normalViewPr>
  <p:slideViewPr>
    <p:cSldViewPr snapToGrid="0">
      <p:cViewPr varScale="1">
        <p:scale>
          <a:sx n="96" d="100"/>
          <a:sy n="96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7CBF2-44B9-4FD7-ADE0-AEF665969899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95F39-9986-42CA-BA2A-89BEF2EFFE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91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529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Искусственный интеллект (ИИ) и нейросети популярных быстроразвивающихся направлений. Они широко применяются во многих отраслях. Детекция объектов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289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992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Мною выделены основные 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770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Сформирован набор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771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559D-E8FF-4BF9-B767-8330CF66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2696F0-D7AD-8B80-D150-2ECBE6A2D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CCCE4A-EE36-F623-30A3-A9FBBEED0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Мною выделены основные функции веб-приложения.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96E794-3F06-52B0-EBAC-2B779910D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114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B2C6-1FE0-FBEA-2AB0-F680D00C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2BA091-156A-5FB4-D2E3-984DD5E62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EC5B86-F21E-7D2D-594D-6FDC49DB7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Мною выделены основные функции веб-приложения.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2CE8EC-04A7-D0A3-B4F7-536827882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414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5B2C6-1FE0-FBEA-2AB0-F680D00C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2BA091-156A-5FB4-D2E3-984DD5E62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EC5B86-F21E-7D2D-594D-6FDC49DB7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Мною выделены основные функции веб-приложения.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2CE8EC-04A7-D0A3-B4F7-536827882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204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проверки системы использовалось функциональное тестирование. Это один из самых популярных видов тестирования, который проверяет соответствие функциональности продукта тому, как он был задуман.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</a:rPr>
              <a:t>Были проверены следующие функции: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3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проверки системы использовалось функциональное тестирование. Это один из самых популярных видов тестирования, который проверяет соответствие функциональности продукта тому, как он был задуман.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</a:rPr>
              <a:t>Были проверены следующие функции: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C95F39-9986-42CA-BA2A-89BEF2EFFE3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127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F9F3A-188F-4C16-A2DE-2587DE574B1E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92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A4267-40AA-4092-A36F-C26D6811F45A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1FB77788-E5A7-4255-94F6-739BDA5FC0D4}" type="slidenum">
              <a:rPr lang="ru-RU" smtClean="0"/>
              <a:pPr/>
              <a:t>‹#›</a:t>
            </a:fld>
            <a:r>
              <a:rPr lang="ru-RU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17864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0052E-2485-4FD0-B116-14C5D93EDDE8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25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62B4-F45C-4AC4-ABBE-0574B703B479}" type="datetime1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95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E3C1-EF5D-4588-B524-A705B5B0D133}" type="datetime1">
              <a:rPr lang="ru-RU" smtClean="0"/>
              <a:t>26.05.2025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26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35BB4-24F7-4230-8D01-C405E5E94E64}" type="datetime1">
              <a:rPr lang="ru-RU" smtClean="0"/>
              <a:t>26.05.2025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04D9-2361-4337-8CBD-AF145C2276BB}" type="datetime1">
              <a:rPr lang="ru-RU" smtClean="0"/>
              <a:t>26.05.2025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25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5CB82-17B0-42A9-AB4B-7BA95240445A}" type="datetime1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9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7A11-3641-4D89-9551-B66F594B6E05}" type="datetime1">
              <a:rPr lang="ru-RU" smtClean="0"/>
              <a:t>26.05.2025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13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1F0EA-DC1B-403A-BF71-142FC9FB47EA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3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5F8A-18D6-4BA8-A576-50974D5C4A22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16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ACBE0-ED2A-454B-897D-9089BF3ED2F7}" type="datetime1">
              <a:rPr lang="ru-RU" smtClean="0"/>
              <a:t>26.05.2025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77788-E5A7-4255-94F6-739BDA5FC0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99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94BD87D-77FC-4773-93DA-28179F75D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8620" y="2720428"/>
            <a:ext cx="7772400" cy="51439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Разработка веб-приложения</a:t>
            </a:r>
            <a:br>
              <a:rPr lang="ru-RU" sz="32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для детекции дорожных объектов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6CD14-AF83-48F0-A295-A63863152DBA}"/>
              </a:ext>
            </a:extLst>
          </p:cNvPr>
          <p:cNvSpPr txBox="1"/>
          <p:nvPr/>
        </p:nvSpPr>
        <p:spPr>
          <a:xfrm>
            <a:off x="0" y="138002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Федеральное государственное автономное образовательное учреждение высшего образования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«Южно-Уральский государственный университет (национальный исследовательский университет)» 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Высшая школа электроники и компьютерных наук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 Кафедра системного программирования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9A381-3CF3-4B80-8C5C-EF84732D694D}"/>
              </a:ext>
            </a:extLst>
          </p:cNvPr>
          <p:cNvSpPr txBox="1"/>
          <p:nvPr/>
        </p:nvSpPr>
        <p:spPr>
          <a:xfrm>
            <a:off x="1244338" y="4225784"/>
            <a:ext cx="35350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Научный руководитель: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ст. преподаватель кафедры СП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Н.С. Силкина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5D3059-19D0-4F4D-A517-7C2B801E7F6F}"/>
              </a:ext>
            </a:extLst>
          </p:cNvPr>
          <p:cNvSpPr txBox="1"/>
          <p:nvPr/>
        </p:nvSpPr>
        <p:spPr>
          <a:xfrm>
            <a:off x="7746987" y="4245662"/>
            <a:ext cx="3074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Автор: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студент группы КЭ-401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Д.А. Иванов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E4A51-5AB3-4D0E-BC99-E126D40121E4}"/>
              </a:ext>
            </a:extLst>
          </p:cNvPr>
          <p:cNvSpPr txBox="1"/>
          <p:nvPr/>
        </p:nvSpPr>
        <p:spPr>
          <a:xfrm>
            <a:off x="4913685" y="6216291"/>
            <a:ext cx="199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Челябинск, 2025 г.</a:t>
            </a:r>
          </a:p>
        </p:txBody>
      </p:sp>
    </p:spTree>
    <p:extLst>
      <p:ext uri="{BB962C8B-B14F-4D97-AF65-F5344CB8AC3E}">
        <p14:creationId xmlns:p14="http://schemas.microsoft.com/office/powerpoint/2010/main" val="309948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8325277-1205-44FC-8777-C07BE84A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5914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Актуальность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4C407-5FE5-4D9D-9841-BDCDA0070BD8}"/>
              </a:ext>
            </a:extLst>
          </p:cNvPr>
          <p:cNvSpPr txBox="1"/>
          <p:nvPr/>
        </p:nvSpPr>
        <p:spPr>
          <a:xfrm>
            <a:off x="1276545" y="2565302"/>
            <a:ext cx="100772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Машинное обучение и искусственный интеллект</a:t>
            </a:r>
          </a:p>
          <a:p>
            <a:pPr marL="514350" indent="-514350">
              <a:buAutoNum type="arabicPeriod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Задачи компьютерного зрения</a:t>
            </a:r>
          </a:p>
          <a:p>
            <a:pPr marL="514350" indent="-514350">
              <a:buAutoNum type="arabicPeriod"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Безопасность дорожного движения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0B08D6-2413-4842-83C8-92DBC053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2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234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DE1D302-8FE2-4268-B42E-90FD5307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18331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Цель и задачи исследования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4273A-EB19-468D-AB16-D0435BF6B907}"/>
              </a:ext>
            </a:extLst>
          </p:cNvPr>
          <p:cNvSpPr txBox="1"/>
          <p:nvPr/>
        </p:nvSpPr>
        <p:spPr>
          <a:xfrm>
            <a:off x="1052259" y="1147966"/>
            <a:ext cx="102885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Цель:</a:t>
            </a:r>
          </a:p>
          <a:p>
            <a:pPr indent="442913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Реализация веб-приложения для детекции дорожных объектов.</a:t>
            </a:r>
          </a:p>
          <a:p>
            <a:pPr indent="442913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 marL="442913" indent="442913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Сформировать обучающий набор данных.</a:t>
            </a:r>
          </a:p>
          <a:p>
            <a:pPr marL="442913" indent="442913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Обучить нейросетевые модели.</a:t>
            </a:r>
          </a:p>
          <a:p>
            <a:pPr marL="442913" indent="442913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Провести эксперименты и выявить лучшую модель.</a:t>
            </a:r>
          </a:p>
          <a:p>
            <a:pPr marL="442913" indent="442913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Разработать веб-приложение для использования модели.</a:t>
            </a:r>
          </a:p>
          <a:p>
            <a:pPr marL="442913" indent="442913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Провести тестирование веб-приложения.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D11FDB0-BC4E-47DC-ADDD-49692DB6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3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678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537F914-D187-4830-985C-1CBD8984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49231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Обзор аналогичных проектов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0AA1DD-8D26-46B7-84FB-9179BFF2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4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44284D-0EAD-46F4-BE44-486D5647A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00" y="1192080"/>
            <a:ext cx="9807515" cy="51642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454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537F914-D187-4830-985C-1CBD8984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49231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Обзор аналогичных проектов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0AA1DD-8D26-46B7-84FB-9179BFF2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5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1E6B8E-97A8-457C-8D26-692F5E66A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22" y="986305"/>
            <a:ext cx="7630556" cy="55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9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92DA992-E9BF-44DD-ADFE-6494425A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7890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Анализ аналогичных проектов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C2BCD-3952-440C-A474-C348A7A66774}"/>
              </a:ext>
            </a:extLst>
          </p:cNvPr>
          <p:cNvSpPr txBox="1"/>
          <p:nvPr/>
        </p:nvSpPr>
        <p:spPr>
          <a:xfrm>
            <a:off x="1052660" y="1874728"/>
            <a:ext cx="100866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Необходимый функционал: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Распознание, локализация и классификация основных дорожных объектов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Обработка изображений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Обработка видео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DEE970-2311-405D-98A4-6A36A13B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6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54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CCF69F7-4AAE-4017-8EDD-7675F1FAD0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6"/>
          <a:stretch/>
        </p:blipFill>
        <p:spPr bwMode="auto">
          <a:xfrm>
            <a:off x="1825486" y="2604052"/>
            <a:ext cx="8206965" cy="407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92DA992-E9BF-44DD-ADFE-6494425A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7890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Формирование набора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C2BCD-3952-440C-A474-C348A7A66774}"/>
              </a:ext>
            </a:extLst>
          </p:cNvPr>
          <p:cNvSpPr txBox="1"/>
          <p:nvPr/>
        </p:nvSpPr>
        <p:spPr>
          <a:xfrm>
            <a:off x="1430347" y="1321907"/>
            <a:ext cx="100866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Road DETECTION - IMGs &amp; Labels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Computer Vision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Annotation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Tool (CVAT)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DEE970-2311-405D-98A4-6A36A13B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7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06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DB698-2047-365E-0B13-03B24743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C5E7F-2257-821F-A824-95518E60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896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Обучение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нейросетевой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модели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F53F86-867A-A539-1A73-7DE918A8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8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49CA920-ED08-42C3-AF94-63B34EA11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361663"/>
              </p:ext>
            </p:extLst>
          </p:nvPr>
        </p:nvGraphicFramePr>
        <p:xfrm>
          <a:off x="1461052" y="2355575"/>
          <a:ext cx="8749748" cy="33196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371387229"/>
                    </a:ext>
                  </a:extLst>
                </a:gridCol>
                <a:gridCol w="2464905">
                  <a:extLst>
                    <a:ext uri="{9D8B030D-6E8A-4147-A177-3AD203B41FA5}">
                      <a16:colId xmlns:a16="http://schemas.microsoft.com/office/drawing/2014/main" val="3347896417"/>
                    </a:ext>
                  </a:extLst>
                </a:gridCol>
                <a:gridCol w="2398643">
                  <a:extLst>
                    <a:ext uri="{9D8B030D-6E8A-4147-A177-3AD203B41FA5}">
                      <a16:colId xmlns:a16="http://schemas.microsoft.com/office/drawing/2014/main" val="1878050654"/>
                    </a:ext>
                  </a:extLst>
                </a:gridCol>
              </a:tblGrid>
              <a:tr h="112401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ru-RU" sz="2800" b="1" dirty="0">
                          <a:effectLst/>
                        </a:rPr>
                        <a:t>Модель</a:t>
                      </a:r>
                      <a:endParaRPr lang="ru-RU" sz="2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1" dirty="0">
                          <a:effectLst/>
                        </a:rPr>
                        <a:t>mAP50</a:t>
                      </a:r>
                      <a:endParaRPr lang="ru-RU" sz="2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1" dirty="0">
                          <a:effectLst/>
                        </a:rPr>
                        <a:t>mAP50-95</a:t>
                      </a:r>
                      <a:endParaRPr lang="ru-RU" sz="2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7047436"/>
                  </a:ext>
                </a:extLst>
              </a:tr>
              <a:tr h="7318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ru-RU" sz="2800" b="0" kern="1200" dirty="0" err="1">
                          <a:solidFill>
                            <a:schemeClr val="tx1"/>
                          </a:solidFill>
                          <a:effectLst/>
                        </a:rPr>
                        <a:t>Ultralytics</a:t>
                      </a:r>
                      <a:r>
                        <a:rPr lang="ru-RU" sz="2800" b="0" kern="1200" dirty="0"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YOLOv5</a:t>
                      </a:r>
                      <a:endParaRPr lang="ru-RU" sz="2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0" dirty="0">
                          <a:effectLst/>
                        </a:rPr>
                        <a:t>0,8</a:t>
                      </a:r>
                      <a:r>
                        <a:rPr lang="ru-RU" sz="2800" b="0" dirty="0">
                          <a:effectLst/>
                        </a:rPr>
                        <a:t>29</a:t>
                      </a:r>
                      <a:endParaRPr lang="ru-RU" sz="2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0" dirty="0">
                          <a:effectLst/>
                        </a:rPr>
                        <a:t>0,</a:t>
                      </a:r>
                      <a:r>
                        <a:rPr lang="ru-RU" sz="2800" b="0" dirty="0">
                          <a:effectLst/>
                        </a:rPr>
                        <a:t>615</a:t>
                      </a:r>
                      <a:endParaRPr lang="ru-RU" sz="2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0181908"/>
                  </a:ext>
                </a:extLst>
              </a:tr>
              <a:tr h="7318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ru-RU" sz="2800" b="0" kern="1200" dirty="0" err="1">
                          <a:solidFill>
                            <a:schemeClr val="tx1"/>
                          </a:solidFill>
                          <a:effectLst/>
                        </a:rPr>
                        <a:t>Ultralytics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YOLOv8</a:t>
                      </a:r>
                      <a:endParaRPr lang="ru-RU" sz="2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0" dirty="0">
                          <a:effectLst/>
                        </a:rPr>
                        <a:t>0,</a:t>
                      </a:r>
                      <a:r>
                        <a:rPr lang="ru-RU" sz="2800" b="0" dirty="0">
                          <a:effectLst/>
                        </a:rPr>
                        <a:t>834</a:t>
                      </a:r>
                      <a:endParaRPr lang="ru-RU" sz="2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0" dirty="0">
                          <a:effectLst/>
                        </a:rPr>
                        <a:t>0,</a:t>
                      </a:r>
                      <a:r>
                        <a:rPr lang="ru-RU" sz="2800" b="0" dirty="0">
                          <a:effectLst/>
                        </a:rPr>
                        <a:t>626</a:t>
                      </a:r>
                      <a:endParaRPr lang="ru-RU" sz="2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5279167"/>
                  </a:ext>
                </a:extLst>
              </a:tr>
              <a:tr h="73188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ru-RU" sz="2800" b="0" kern="1200" dirty="0" err="1">
                          <a:solidFill>
                            <a:schemeClr val="tx1"/>
                          </a:solidFill>
                          <a:effectLst/>
                        </a:rPr>
                        <a:t>Ultralytics</a:t>
                      </a:r>
                      <a:r>
                        <a:rPr lang="ru-RU" sz="28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</a:rPr>
                        <a:t>YOLO11</a:t>
                      </a:r>
                      <a:endParaRPr lang="ru-RU" sz="2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0" dirty="0">
                          <a:effectLst/>
                        </a:rPr>
                        <a:t>0,</a:t>
                      </a:r>
                      <a:r>
                        <a:rPr lang="ru-RU" sz="2800" b="0" dirty="0">
                          <a:effectLst/>
                        </a:rPr>
                        <a:t>831</a:t>
                      </a:r>
                      <a:endParaRPr lang="ru-RU" sz="2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</a:pPr>
                      <a:r>
                        <a:rPr lang="en-US" sz="2800" b="0" dirty="0">
                          <a:effectLst/>
                        </a:rPr>
                        <a:t>0,</a:t>
                      </a:r>
                      <a:r>
                        <a:rPr lang="ru-RU" sz="2800" b="0" dirty="0">
                          <a:effectLst/>
                        </a:rPr>
                        <a:t>611</a:t>
                      </a:r>
                      <a:endParaRPr lang="ru-RU" sz="2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3042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04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4762-471F-45B4-2DAC-2AAB613E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9D7AF8-D4DD-F8DA-93EB-4C8FB1BA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74" y="731141"/>
            <a:ext cx="6948932" cy="6126859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C698A9-5C36-6C05-97EF-2665C29A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13357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Тестирование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1783245-5BA7-AC7E-9457-397128EC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9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96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4762-471F-45B4-2DAC-2AAB613E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3FA98AC-8D7F-40B1-84B0-2B152291E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617" y="653497"/>
            <a:ext cx="8391941" cy="629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C698A9-5C36-6C05-97EF-2665C29A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13357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Тестирование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1783245-5BA7-AC7E-9457-397128EC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10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720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8AFB1E6-1180-47CF-AADB-5C4D9D1C94F6}"/>
              </a:ext>
            </a:extLst>
          </p:cNvPr>
          <p:cNvSpPr txBox="1">
            <a:spLocks/>
          </p:cNvSpPr>
          <p:nvPr/>
        </p:nvSpPr>
        <p:spPr>
          <a:xfrm>
            <a:off x="2077039" y="-42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itchFamily="18" charset="0"/>
              </a:rPr>
              <a:t>Архитектура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E060230-92E3-4D54-B637-036B28A1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11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E89B89-BDF3-4650-BD38-5729A6BDD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60" y="1548821"/>
            <a:ext cx="10487944" cy="424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9BF94C-5A51-4F18-BA92-F4FC9E6E4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67138"/>
            <a:ext cx="8020639" cy="6454355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8AFB1E6-1180-47CF-AADB-5C4D9D1C94F6}"/>
              </a:ext>
            </a:extLst>
          </p:cNvPr>
          <p:cNvSpPr txBox="1">
            <a:spLocks/>
          </p:cNvSpPr>
          <p:nvPr/>
        </p:nvSpPr>
        <p:spPr>
          <a:xfrm>
            <a:off x="2077039" y="-10362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Обработка видео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E060230-92E3-4D54-B637-036B28A1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12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0434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D7D0BE2-2D2C-4923-8220-23B01E71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16965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Пользовательский интерфейс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418926-B1DE-4141-8419-4A21200C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13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0DCC12-647A-4DB3-A1EA-ACB050D393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0" r="2752"/>
          <a:stretch/>
        </p:blipFill>
        <p:spPr>
          <a:xfrm>
            <a:off x="1530625" y="777815"/>
            <a:ext cx="8945217" cy="59310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0237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AADC3CD-C73B-4F09-9A29-317A6DA0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62" y="11630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Средства разработки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33C03AE-3550-4F10-A341-CFEEC4FB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14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624ED0A-1DC7-44DD-B0ED-2E0CB64816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8975" y="1716983"/>
            <a:ext cx="10814050" cy="3074988"/>
          </a:xfrm>
        </p:spPr>
        <p:txBody>
          <a:bodyPr>
            <a:noAutofit/>
          </a:bodyPr>
          <a:lstStyle/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</a:t>
            </a:r>
            <a:endParaRPr lang="ru-R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выполнения кода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Google </a:t>
            </a: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Colaboratory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ru-R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 </a:t>
            </a:r>
          </a:p>
          <a:p>
            <a:pPr indent="485775" eaLnBrk="1" hangingPunct="1">
              <a:lnSpc>
                <a:spcPct val="120000"/>
              </a:lnSpc>
              <a:spcBef>
                <a:spcPts val="1200"/>
              </a:spcBef>
              <a:tabLst>
                <a:tab pos="714375" algn="l"/>
              </a:tabLst>
              <a:defRPr/>
            </a:pP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85775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85775"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en-US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368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AADC3CD-C73B-4F09-9A29-317A6DA0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62" y="69278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Тестирование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DDE73-FC19-4850-A3D6-70FEF85A9B27}"/>
              </a:ext>
            </a:extLst>
          </p:cNvPr>
          <p:cNvSpPr txBox="1"/>
          <p:nvPr/>
        </p:nvSpPr>
        <p:spPr>
          <a:xfrm>
            <a:off x="1733464" y="2179103"/>
            <a:ext cx="100961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Проверка загрузки модели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Проверка выпадающего меню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Проверка загрузки и обработки изображений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Проверка загрузки и обработки видео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33C03AE-3550-4F10-A341-CFEEC4FB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15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8992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8A4B608-0E8D-4D19-95CC-96B22AABE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-88257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Основные результаты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20F45-C413-443E-8EA5-0AEB380657AE}"/>
              </a:ext>
            </a:extLst>
          </p:cNvPr>
          <p:cNvSpPr txBox="1"/>
          <p:nvPr/>
        </p:nvSpPr>
        <p:spPr>
          <a:xfrm>
            <a:off x="1062087" y="963557"/>
            <a:ext cx="1006782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 рамках данной работы была обучена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нейросетевая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модель для детекции дорожных объектов. Также было разработано веб-приложение для работы с обученной моделью. 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Были решены следующие задачи: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Найден и дополнительно размечен набор данных.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Дополнен набор данных.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Обучены нейросетевые модели.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Проведены эксперименты и выявлена лучшая модель.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Спроектировано и разработано веб-приложение для использования обученной модели.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Проведено тестирование веб-приложения.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85EAE3-F86D-4669-A7B9-FF57EAD9F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7788-E5A7-4255-94F6-739BDA5FC0D4}" type="slidenum">
              <a:rPr lang="ru-RU" smtClean="0"/>
              <a:pPr/>
              <a:t>16</a:t>
            </a:fld>
            <a:r>
              <a:rPr lang="ru-RU" dirty="0"/>
              <a:t>/1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3178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1336</TotalTime>
  <Words>445</Words>
  <Application>Microsoft Office PowerPoint</Application>
  <PresentationFormat>Широкоэкранный</PresentationFormat>
  <Paragraphs>113</Paragraphs>
  <Slides>16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Разработка веб-приложения для детекции дорожных объектов</vt:lpstr>
      <vt:lpstr>Актуальность</vt:lpstr>
      <vt:lpstr>Цель и задачи исследования</vt:lpstr>
      <vt:lpstr>Обзор аналогичных проектов</vt:lpstr>
      <vt:lpstr>Обзор аналогичных проектов</vt:lpstr>
      <vt:lpstr>Анализ аналогичных проектов</vt:lpstr>
      <vt:lpstr>Формирование набора данных</vt:lpstr>
      <vt:lpstr>Обучение нейросетевой модели</vt:lpstr>
      <vt:lpstr>Тестирование</vt:lpstr>
      <vt:lpstr>Тестирование</vt:lpstr>
      <vt:lpstr>Презентация PowerPoint</vt:lpstr>
      <vt:lpstr>Презентация PowerPoint</vt:lpstr>
      <vt:lpstr>Пользовательский интерфейс</vt:lpstr>
      <vt:lpstr>Средства разработки</vt:lpstr>
      <vt:lpstr>Тестирование</vt:lpstr>
      <vt:lpstr>Основные 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«NetMate»</dc:title>
  <dc:creator>Face Man</dc:creator>
  <cp:lastModifiedBy>Face Man</cp:lastModifiedBy>
  <cp:revision>110</cp:revision>
  <dcterms:created xsi:type="dcterms:W3CDTF">2024-06-11T07:29:43Z</dcterms:created>
  <dcterms:modified xsi:type="dcterms:W3CDTF">2025-05-26T17:46:21Z</dcterms:modified>
</cp:coreProperties>
</file>