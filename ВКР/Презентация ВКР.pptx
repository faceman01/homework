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1"/>
  </p:sldMasterIdLst>
  <p:notesMasterIdLst>
    <p:notesMasterId r:id="rId15"/>
  </p:notesMasterIdLst>
  <p:sldIdLst>
    <p:sldId id="256" r:id="rId2"/>
    <p:sldId id="258" r:id="rId3"/>
    <p:sldId id="257" r:id="rId4"/>
    <p:sldId id="259" r:id="rId5"/>
    <p:sldId id="274" r:id="rId6"/>
    <p:sldId id="271" r:id="rId7"/>
    <p:sldId id="265" r:id="rId8"/>
    <p:sldId id="277" r:id="rId9"/>
    <p:sldId id="276" r:id="rId10"/>
    <p:sldId id="273" r:id="rId11"/>
    <p:sldId id="266" r:id="rId12"/>
    <p:sldId id="269" r:id="rId13"/>
    <p:sldId id="270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357" autoAdjust="0"/>
    <p:restoredTop sz="86347" autoAdjust="0"/>
  </p:normalViewPr>
  <p:slideViewPr>
    <p:cSldViewPr snapToGrid="0">
      <p:cViewPr varScale="1">
        <p:scale>
          <a:sx n="89" d="100"/>
          <a:sy n="89" d="100"/>
        </p:scale>
        <p:origin x="355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9B7CBF2-44B9-4FD7-ADE0-AEF665969899}" type="datetimeFigureOut">
              <a:rPr lang="ru-RU" smtClean="0"/>
              <a:t>23.05.2025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0C95F39-9986-42CA-BA2A-89BEF2EFFE3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229109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C95F39-9986-42CA-BA2A-89BEF2EFFE33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595293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Искусственный интеллект (ИИ) и нейросети популярных быстроразвивающихся направлений. Они широко применяются во многих отраслях. Детекция объектов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C95F39-9986-42CA-BA2A-89BEF2EFFE33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9728975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C95F39-9986-42CA-BA2A-89BEF2EFFE33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5999235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Мною выделены основные функции веб-приложения.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C95F39-9986-42CA-BA2A-89BEF2EFFE33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3577070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BA559D-E8FF-4BF9-B767-8330CF66D6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F62696F0-D7AD-8B80-D150-2ECBE6A2D6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CECCCE4A-EE36-F623-30A3-A9FBBEED0C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Мною выделены основные функции веб-приложения.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796E794-3F06-52B0-EBAC-2B779910D8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C95F39-9986-42CA-BA2A-89BEF2EFFE33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4144178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D5B2C6-1FE0-FBEA-2AB0-F680D00C5A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182BA091-156A-5FB4-D2E3-984DD5E62C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BEC5B86-F21E-7D2D-594D-6FDC49DB7E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Мною выделены основные функции веб-приложения.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D2CE8EC-04A7-D0A3-B4F7-5368278821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C95F39-9986-42CA-BA2A-89BEF2EFFE33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6541457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Для проверки системы использовалось функциональное тестирование. Это один из самых популярных видов тестирования, который проверяет соответствие функциональности продукта тому, как он был задуман.</a:t>
            </a:r>
          </a:p>
          <a:p>
            <a:r>
              <a:rPr lang="ru-RU" sz="1800" dirty="0">
                <a:effectLst/>
                <a:latin typeface="Times New Roman" panose="02020603050405020304" pitchFamily="18" charset="0"/>
              </a:rPr>
              <a:t>Были проверены следующие функции: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C95F39-9986-42CA-BA2A-89BEF2EFFE33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96358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F9F3A-188F-4C16-A2DE-2587DE574B1E}" type="datetime1">
              <a:rPr lang="ru-RU" smtClean="0"/>
              <a:t>23.05.2025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77788-E5A7-4255-94F6-739BDA5FC0D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299222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5A4267-40AA-4092-A36F-C26D6811F45A}" type="datetime1">
              <a:rPr lang="ru-RU" smtClean="0"/>
              <a:t>23.05.2025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800"/>
            </a:lvl1pPr>
          </a:lstStyle>
          <a:p>
            <a:fld id="{1FB77788-E5A7-4255-94F6-739BDA5FC0D4}" type="slidenum">
              <a:rPr lang="ru-RU" smtClean="0"/>
              <a:pPr/>
              <a:t>‹#›</a:t>
            </a:fld>
            <a:r>
              <a:rPr lang="ru-RU" dirty="0"/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31786430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A0052E-2485-4FD0-B116-14C5D93EDDE8}" type="datetime1">
              <a:rPr lang="ru-RU" smtClean="0"/>
              <a:t>23.05.2025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77788-E5A7-4255-94F6-739BDA5FC0D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082572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B62B4-F45C-4AC4-ABBE-0574B703B479}" type="datetime1">
              <a:rPr lang="ru-RU" smtClean="0"/>
              <a:t>23.05.2025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77788-E5A7-4255-94F6-739BDA5FC0D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349598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7E3C1-EF5D-4588-B524-A705B5B0D133}" type="datetime1">
              <a:rPr lang="ru-RU" smtClean="0"/>
              <a:t>23.05.2025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77788-E5A7-4255-94F6-739BDA5FC0D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942673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35BB4-24F7-4230-8D01-C405E5E94E64}" type="datetime1">
              <a:rPr lang="ru-RU" smtClean="0"/>
              <a:t>23.05.2025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77788-E5A7-4255-94F6-739BDA5FC0D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649331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A904D9-2361-4337-8CBD-AF145C2276BB}" type="datetime1">
              <a:rPr lang="ru-RU" smtClean="0"/>
              <a:t>23.05.2025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77788-E5A7-4255-94F6-739BDA5FC0D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552554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45CB82-17B0-42A9-AB4B-7BA95240445A}" type="datetime1">
              <a:rPr lang="ru-RU" smtClean="0"/>
              <a:t>23.05.2025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77788-E5A7-4255-94F6-739BDA5FC0D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45914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D37A11-3641-4D89-9551-B66F594B6E05}" type="datetime1">
              <a:rPr lang="ru-RU" smtClean="0"/>
              <a:t>23.05.2025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77788-E5A7-4255-94F6-739BDA5FC0D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071391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11F0EA-DC1B-403A-BF71-142FC9FB47EA}" type="datetime1">
              <a:rPr lang="ru-RU" smtClean="0"/>
              <a:t>23.05.2025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77788-E5A7-4255-94F6-739BDA5FC0D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783974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C85F8A-18D6-4BA8-A576-50974D5C4A22}" type="datetime1">
              <a:rPr lang="ru-RU" smtClean="0"/>
              <a:t>23.05.2025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77788-E5A7-4255-94F6-739BDA5FC0D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221657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EACBE0-ED2A-454B-897D-9089BF3ED2F7}" type="datetime1">
              <a:rPr lang="ru-RU" smtClean="0"/>
              <a:t>23.05.2025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B77788-E5A7-4255-94F6-739BDA5FC0D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39912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D94BD87D-77FC-4773-93DA-28179F75D4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48620" y="2829757"/>
            <a:ext cx="7772400" cy="514390"/>
          </a:xfrm>
        </p:spPr>
        <p:txBody>
          <a:bodyPr>
            <a:noAutofit/>
          </a:bodyPr>
          <a:lstStyle/>
          <a:p>
            <a:r>
              <a:rPr lang="ru-RU" sz="3200" dirty="0">
                <a:latin typeface="Times New Roman" pitchFamily="18" charset="0"/>
                <a:cs typeface="Times New Roman" pitchFamily="18" charset="0"/>
              </a:rPr>
              <a:t>Разработка веб-приложения</a:t>
            </a:r>
            <a:br>
              <a:rPr lang="ru-RU" sz="3200" dirty="0">
                <a:latin typeface="Times New Roman" pitchFamily="18" charset="0"/>
                <a:cs typeface="Times New Roman" pitchFamily="18" charset="0"/>
              </a:rPr>
            </a:br>
            <a:r>
              <a:rPr lang="ru-RU" sz="3200" dirty="0">
                <a:latin typeface="Times New Roman" pitchFamily="18" charset="0"/>
                <a:cs typeface="Times New Roman" pitchFamily="18" charset="0"/>
              </a:rPr>
              <a:t>для детекции дорожных объектов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A56CD14-AF83-48F0-A295-A63863152DBA}"/>
              </a:ext>
            </a:extLst>
          </p:cNvPr>
          <p:cNvSpPr txBox="1"/>
          <p:nvPr/>
        </p:nvSpPr>
        <p:spPr>
          <a:xfrm>
            <a:off x="0" y="138002"/>
            <a:ext cx="12192000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dirty="0">
                <a:latin typeface="Times New Roman" pitchFamily="18" charset="0"/>
                <a:cs typeface="Times New Roman" pitchFamily="18" charset="0"/>
              </a:rPr>
              <a:t>МИНИСТЕРСТВО НАУКИ И ВЫСШЕГО ОБРАЗОВАНИЯ РОССИЙСКОЙ ФЕДЕРАЦИИ</a:t>
            </a:r>
          </a:p>
          <a:p>
            <a:pPr algn="ctr"/>
            <a:r>
              <a:rPr lang="ru-RU" sz="2000" dirty="0">
                <a:latin typeface="Times New Roman" pitchFamily="18" charset="0"/>
                <a:cs typeface="Times New Roman" pitchFamily="18" charset="0"/>
              </a:rPr>
              <a:t>Федеральное государственное автономное образовательное учреждение высшего образования </a:t>
            </a:r>
          </a:p>
          <a:p>
            <a:pPr algn="ctr"/>
            <a:r>
              <a:rPr lang="ru-RU" sz="2000" dirty="0">
                <a:latin typeface="Times New Roman" pitchFamily="18" charset="0"/>
                <a:cs typeface="Times New Roman" pitchFamily="18" charset="0"/>
              </a:rPr>
              <a:t>«Южно-Уральский государственный университет (национальный исследовательский университет)» </a:t>
            </a:r>
          </a:p>
          <a:p>
            <a:pPr algn="ctr"/>
            <a:r>
              <a:rPr lang="ru-RU" sz="2000" dirty="0">
                <a:latin typeface="Times New Roman" pitchFamily="18" charset="0"/>
                <a:cs typeface="Times New Roman" pitchFamily="18" charset="0"/>
              </a:rPr>
              <a:t>Высшая школа электроники и компьютерных наук</a:t>
            </a:r>
          </a:p>
          <a:p>
            <a:pPr algn="ctr"/>
            <a:r>
              <a:rPr lang="ru-RU" sz="2000" dirty="0">
                <a:latin typeface="Times New Roman" pitchFamily="18" charset="0"/>
                <a:cs typeface="Times New Roman" pitchFamily="18" charset="0"/>
              </a:rPr>
              <a:t> Кафедра системного программирования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7C9A381-3CF3-4B80-8C5C-EF84732D694D}"/>
              </a:ext>
            </a:extLst>
          </p:cNvPr>
          <p:cNvSpPr txBox="1"/>
          <p:nvPr/>
        </p:nvSpPr>
        <p:spPr>
          <a:xfrm>
            <a:off x="1244338" y="4066760"/>
            <a:ext cx="353505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latin typeface="Times New Roman" pitchFamily="18" charset="0"/>
                <a:cs typeface="Times New Roman" pitchFamily="18" charset="0"/>
              </a:rPr>
              <a:t>Научный руководитель:</a:t>
            </a:r>
          </a:p>
          <a:p>
            <a:r>
              <a:rPr lang="ru-RU" sz="2000" dirty="0">
                <a:latin typeface="Times New Roman" pitchFamily="18" charset="0"/>
                <a:cs typeface="Times New Roman" pitchFamily="18" charset="0"/>
              </a:rPr>
              <a:t>ст. преподаватель кафедры СП</a:t>
            </a:r>
            <a:br>
              <a:rPr lang="ru-RU" sz="2000" dirty="0">
                <a:latin typeface="Times New Roman" pitchFamily="18" charset="0"/>
                <a:cs typeface="Times New Roman" pitchFamily="18" charset="0"/>
              </a:rPr>
            </a:br>
            <a:r>
              <a:rPr lang="ru-RU" sz="2000" dirty="0">
                <a:latin typeface="Times New Roman" pitchFamily="18" charset="0"/>
                <a:cs typeface="Times New Roman" pitchFamily="18" charset="0"/>
              </a:rPr>
              <a:t>Н.С. Силкина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A5D3059-19D0-4F4D-A517-7C2B801E7F6F}"/>
              </a:ext>
            </a:extLst>
          </p:cNvPr>
          <p:cNvSpPr txBox="1"/>
          <p:nvPr/>
        </p:nvSpPr>
        <p:spPr>
          <a:xfrm>
            <a:off x="7746987" y="4066760"/>
            <a:ext cx="307498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latin typeface="Times New Roman" pitchFamily="18" charset="0"/>
                <a:cs typeface="Times New Roman" pitchFamily="18" charset="0"/>
              </a:rPr>
              <a:t>Автор:</a:t>
            </a:r>
          </a:p>
          <a:p>
            <a:r>
              <a:rPr lang="ru-RU" sz="2000" dirty="0">
                <a:latin typeface="Times New Roman" pitchFamily="18" charset="0"/>
                <a:cs typeface="Times New Roman" pitchFamily="18" charset="0"/>
              </a:rPr>
              <a:t>студент группы КЭ-401</a:t>
            </a:r>
          </a:p>
          <a:p>
            <a:r>
              <a:rPr lang="ru-RU" sz="2000" dirty="0">
                <a:latin typeface="Times New Roman" pitchFamily="18" charset="0"/>
                <a:cs typeface="Times New Roman" pitchFamily="18" charset="0"/>
              </a:rPr>
              <a:t>Д.А. Иванов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9DE4A51-5AB3-4D0E-BC99-E126D40121E4}"/>
              </a:ext>
            </a:extLst>
          </p:cNvPr>
          <p:cNvSpPr txBox="1"/>
          <p:nvPr/>
        </p:nvSpPr>
        <p:spPr>
          <a:xfrm>
            <a:off x="4913685" y="6216291"/>
            <a:ext cx="19988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>
                <a:latin typeface="Times New Roman" pitchFamily="18" charset="0"/>
                <a:cs typeface="Times New Roman" pitchFamily="18" charset="0"/>
              </a:rPr>
              <a:t>Челябинск, 2025 г.</a:t>
            </a:r>
          </a:p>
        </p:txBody>
      </p:sp>
    </p:spTree>
    <p:extLst>
      <p:ext uri="{BB962C8B-B14F-4D97-AF65-F5344CB8AC3E}">
        <p14:creationId xmlns:p14="http://schemas.microsoft.com/office/powerpoint/2010/main" val="30994803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88325277-1205-44FC-8777-C07BE84ADD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36524"/>
            <a:ext cx="12192000" cy="1143000"/>
          </a:xfrm>
        </p:spPr>
        <p:txBody>
          <a:bodyPr>
            <a:normAutofit/>
          </a:bodyPr>
          <a:lstStyle/>
          <a:p>
            <a:pPr algn="ctr"/>
            <a:r>
              <a:rPr lang="ru-RU" dirty="0">
                <a:latin typeface="Times New Roman" pitchFamily="18" charset="0"/>
                <a:cs typeface="Times New Roman" pitchFamily="18" charset="0"/>
              </a:rPr>
              <a:t>Актуальность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9D4C407-5FE5-4D9D-9841-BDCDA0070BD8}"/>
              </a:ext>
            </a:extLst>
          </p:cNvPr>
          <p:cNvSpPr txBox="1"/>
          <p:nvPr/>
        </p:nvSpPr>
        <p:spPr>
          <a:xfrm>
            <a:off x="1055801" y="1772816"/>
            <a:ext cx="10077255" cy="22198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3200" dirty="0">
                <a:latin typeface="Times New Roman" pitchFamily="18" charset="0"/>
                <a:cs typeface="Times New Roman" pitchFamily="18" charset="0"/>
              </a:rPr>
              <a:t>1. Машинное обучение и искусственный интеллект</a:t>
            </a:r>
            <a:br>
              <a:rPr lang="ru-RU" sz="3200" dirty="0">
                <a:latin typeface="Times New Roman" pitchFamily="18" charset="0"/>
                <a:cs typeface="Times New Roman" pitchFamily="18" charset="0"/>
              </a:rPr>
            </a:br>
            <a:r>
              <a:rPr lang="ru-RU" sz="3200" dirty="0">
                <a:latin typeface="Times New Roman" pitchFamily="18" charset="0"/>
                <a:cs typeface="Times New Roman" pitchFamily="18" charset="0"/>
              </a:rPr>
              <a:t>2. Безопасность дорожного движения</a:t>
            </a:r>
          </a:p>
          <a:p>
            <a:pPr>
              <a:lnSpc>
                <a:spcPct val="150000"/>
              </a:lnSpc>
            </a:pPr>
            <a:r>
              <a:rPr lang="ru-RU" sz="3200" dirty="0">
                <a:latin typeface="Times New Roman" pitchFamily="18" charset="0"/>
                <a:cs typeface="Times New Roman" pitchFamily="18" charset="0"/>
              </a:rPr>
              <a:t>3. </a:t>
            </a: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460B08D6-2413-4842-83C8-92DBC053C7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77788-E5A7-4255-94F6-739BDA5FC0D4}" type="slidenum">
              <a:rPr lang="ru-RU" smtClean="0"/>
              <a:pPr/>
              <a:t>2</a:t>
            </a:fld>
            <a:r>
              <a:rPr lang="ru-RU"/>
              <a:t>/17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7923419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1">
            <a:extLst>
              <a:ext uri="{FF2B5EF4-FFF2-40B4-BE49-F238E27FC236}">
                <a16:creationId xmlns:a16="http://schemas.microsoft.com/office/drawing/2014/main" id="{2DE1D302-8FE2-4268-B42E-90FD53072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63552" y="18331"/>
            <a:ext cx="8229600" cy="1143000"/>
          </a:xfrm>
        </p:spPr>
        <p:txBody>
          <a:bodyPr>
            <a:normAutofit/>
          </a:bodyPr>
          <a:lstStyle/>
          <a:p>
            <a:pPr algn="ctr"/>
            <a:r>
              <a:rPr lang="ru-RU" dirty="0">
                <a:latin typeface="Times New Roman" pitchFamily="18" charset="0"/>
                <a:cs typeface="Times New Roman" pitchFamily="18" charset="0"/>
              </a:rPr>
              <a:t>Цель и задачи исследования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1B4273A-EB19-468D-AB16-D0435BF6B907}"/>
              </a:ext>
            </a:extLst>
          </p:cNvPr>
          <p:cNvSpPr txBox="1"/>
          <p:nvPr/>
        </p:nvSpPr>
        <p:spPr>
          <a:xfrm>
            <a:off x="1052259" y="1147966"/>
            <a:ext cx="10288571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b="1" dirty="0">
                <a:latin typeface="Times New Roman" pitchFamily="18" charset="0"/>
                <a:cs typeface="Times New Roman" pitchFamily="18" charset="0"/>
              </a:rPr>
              <a:t>Цель:</a:t>
            </a:r>
          </a:p>
          <a:p>
            <a:pPr indent="442913"/>
            <a:r>
              <a:rPr lang="ru-RU" sz="2800" dirty="0">
                <a:latin typeface="Times New Roman" pitchFamily="18" charset="0"/>
                <a:cs typeface="Times New Roman" pitchFamily="18" charset="0"/>
              </a:rPr>
              <a:t>Реализация веб-приложения для детекции дорожных объектов.</a:t>
            </a:r>
          </a:p>
          <a:p>
            <a:pPr indent="442913"/>
            <a:endParaRPr lang="ru-RU" sz="2800" dirty="0">
              <a:latin typeface="Times New Roman" pitchFamily="18" charset="0"/>
              <a:cs typeface="Times New Roman" pitchFamily="18" charset="0"/>
            </a:endParaRPr>
          </a:p>
          <a:p>
            <a:r>
              <a:rPr lang="ru-RU" sz="2800" b="1" dirty="0">
                <a:latin typeface="Times New Roman" pitchFamily="18" charset="0"/>
                <a:cs typeface="Times New Roman" pitchFamily="18" charset="0"/>
              </a:rPr>
              <a:t>Задачи:</a:t>
            </a:r>
          </a:p>
          <a:p>
            <a:pPr marL="442913" indent="442913">
              <a:buAutoNum type="arabicPeriod"/>
            </a:pPr>
            <a:r>
              <a:rPr lang="ru-RU" sz="2800" dirty="0">
                <a:latin typeface="Times New Roman" pitchFamily="18" charset="0"/>
                <a:cs typeface="Times New Roman" pitchFamily="18" charset="0"/>
              </a:rPr>
              <a:t>Сформировать обучающий набор данных.</a:t>
            </a:r>
          </a:p>
          <a:p>
            <a:pPr marL="442913" indent="442913">
              <a:buAutoNum type="arabicPeriod"/>
            </a:pPr>
            <a:r>
              <a:rPr lang="ru-RU" sz="2800" dirty="0">
                <a:latin typeface="Times New Roman" pitchFamily="18" charset="0"/>
                <a:cs typeface="Times New Roman" pitchFamily="18" charset="0"/>
              </a:rPr>
              <a:t>Обучить нейросетевые модели.</a:t>
            </a:r>
          </a:p>
          <a:p>
            <a:pPr marL="442913" indent="442913">
              <a:buAutoNum type="arabicPeriod"/>
            </a:pPr>
            <a:r>
              <a:rPr lang="ru-RU" sz="2800" dirty="0">
                <a:latin typeface="Times New Roman" pitchFamily="18" charset="0"/>
                <a:cs typeface="Times New Roman" pitchFamily="18" charset="0"/>
              </a:rPr>
              <a:t>Провести эксперименты и выявить лучшую модель.</a:t>
            </a:r>
          </a:p>
          <a:p>
            <a:pPr marL="442913" indent="442913">
              <a:buAutoNum type="arabicPeriod"/>
            </a:pPr>
            <a:r>
              <a:rPr lang="ru-RU" sz="2800" dirty="0">
                <a:latin typeface="Times New Roman" pitchFamily="18" charset="0"/>
                <a:cs typeface="Times New Roman" pitchFamily="18" charset="0"/>
              </a:rPr>
              <a:t>Разработать веб-приложение для использования модели.</a:t>
            </a:r>
          </a:p>
          <a:p>
            <a:pPr marL="442913" indent="442913">
              <a:buAutoNum type="arabicPeriod"/>
            </a:pPr>
            <a:r>
              <a:rPr lang="ru-RU" sz="2800" dirty="0">
                <a:latin typeface="Times New Roman" pitchFamily="18" charset="0"/>
                <a:cs typeface="Times New Roman" pitchFamily="18" charset="0"/>
              </a:rPr>
              <a:t>Провести тестирование веб-приложения.</a:t>
            </a:r>
          </a:p>
          <a:p>
            <a:endParaRPr lang="ru-RU" sz="28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DD11FDB0-BC4E-47DC-ADDD-49692DB61A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77788-E5A7-4255-94F6-739BDA5FC0D4}" type="slidenum">
              <a:rPr lang="ru-RU" smtClean="0"/>
              <a:pPr/>
              <a:t>3</a:t>
            </a:fld>
            <a:r>
              <a:rPr lang="ru-RU"/>
              <a:t>/17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367888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4537F914-D187-4830-985C-1CBD898491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63552" y="49231"/>
            <a:ext cx="8229600" cy="1143000"/>
          </a:xfrm>
        </p:spPr>
        <p:txBody>
          <a:bodyPr>
            <a:normAutofit/>
          </a:bodyPr>
          <a:lstStyle/>
          <a:p>
            <a:pPr algn="ctr"/>
            <a:r>
              <a:rPr lang="ru-RU" dirty="0">
                <a:latin typeface="Times New Roman" pitchFamily="18" charset="0"/>
                <a:cs typeface="Times New Roman" pitchFamily="18" charset="0"/>
              </a:rPr>
              <a:t>Обзор аналогичных проектов</a:t>
            </a: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AB0AA1DD-8D26-46B7-84FB-9179BFF26C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77788-E5A7-4255-94F6-739BDA5FC0D4}" type="slidenum">
              <a:rPr lang="ru-RU" smtClean="0"/>
              <a:pPr/>
              <a:t>4</a:t>
            </a:fld>
            <a:r>
              <a:rPr lang="ru-RU"/>
              <a:t>/17</a:t>
            </a:r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A244284D-0EAD-46F4-BE44-486D5647A0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0700" y="1192080"/>
            <a:ext cx="9807515" cy="5164270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3245472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4537F914-D187-4830-985C-1CBD898491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63552" y="49231"/>
            <a:ext cx="8229600" cy="1143000"/>
          </a:xfrm>
        </p:spPr>
        <p:txBody>
          <a:bodyPr>
            <a:normAutofit/>
          </a:bodyPr>
          <a:lstStyle/>
          <a:p>
            <a:pPr algn="ctr"/>
            <a:r>
              <a:rPr lang="ru-RU" dirty="0">
                <a:latin typeface="Times New Roman" pitchFamily="18" charset="0"/>
                <a:cs typeface="Times New Roman" pitchFamily="18" charset="0"/>
              </a:rPr>
              <a:t>Обзор аналогичных проектов</a:t>
            </a: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AB0AA1DD-8D26-46B7-84FB-9179BFF26C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77788-E5A7-4255-94F6-739BDA5FC0D4}" type="slidenum">
              <a:rPr lang="ru-RU" smtClean="0"/>
              <a:pPr/>
              <a:t>5</a:t>
            </a:fld>
            <a:r>
              <a:rPr lang="ru-RU"/>
              <a:t>/17</a:t>
            </a:r>
            <a:endParaRPr lang="ru-RU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1F1E6B8E-97A8-457C-8D26-692F5E66A4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0722" y="986305"/>
            <a:ext cx="7630556" cy="5575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47966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992DA992-E9BF-44DD-ADFE-6494425A5C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0"/>
            <a:ext cx="8229600" cy="1143000"/>
          </a:xfrm>
        </p:spPr>
        <p:txBody>
          <a:bodyPr>
            <a:normAutofit/>
          </a:bodyPr>
          <a:lstStyle/>
          <a:p>
            <a:pPr algn="ctr"/>
            <a:r>
              <a:rPr lang="ru-RU" dirty="0">
                <a:latin typeface="Times New Roman" pitchFamily="18" charset="0"/>
                <a:cs typeface="Times New Roman" pitchFamily="18" charset="0"/>
              </a:rPr>
              <a:t>Анализ аналогичных проектов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CBC2BCD-3952-440C-A474-C348A7A66774}"/>
              </a:ext>
            </a:extLst>
          </p:cNvPr>
          <p:cNvSpPr txBox="1"/>
          <p:nvPr/>
        </p:nvSpPr>
        <p:spPr>
          <a:xfrm>
            <a:off x="1065229" y="1143000"/>
            <a:ext cx="10086680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Times New Roman" pitchFamily="18" charset="0"/>
                <a:cs typeface="Times New Roman" pitchFamily="18" charset="0"/>
              </a:rPr>
              <a:t>Необходимый функционал:</a:t>
            </a:r>
          </a:p>
          <a:p>
            <a:endParaRPr lang="ru-RU" sz="2800" dirty="0">
              <a:latin typeface="Times New Roman" pitchFamily="18" charset="0"/>
              <a:cs typeface="Times New Roman" pitchFamily="18" charset="0"/>
            </a:endParaRPr>
          </a:p>
          <a:p>
            <a:r>
              <a:rPr lang="ru-RU" sz="2800" dirty="0">
                <a:latin typeface="Times New Roman" pitchFamily="18" charset="0"/>
                <a:cs typeface="Times New Roman" pitchFamily="18" charset="0"/>
              </a:rPr>
              <a:t>•	Предоставлять возможность авторизации на сервисе</a:t>
            </a:r>
          </a:p>
          <a:p>
            <a:r>
              <a:rPr lang="ru-RU" sz="2800" dirty="0">
                <a:latin typeface="Times New Roman" pitchFamily="18" charset="0"/>
                <a:cs typeface="Times New Roman" pitchFamily="18" charset="0"/>
              </a:rPr>
              <a:t>•	Предоставлять возможность проведения прямых трансляций на сервисе</a:t>
            </a:r>
          </a:p>
          <a:p>
            <a:r>
              <a:rPr lang="ru-RU" sz="2800" dirty="0">
                <a:latin typeface="Times New Roman" pitchFamily="18" charset="0"/>
                <a:cs typeface="Times New Roman" pitchFamily="18" charset="0"/>
              </a:rPr>
              <a:t>•	Предоставлять возможность поиска пользователей и трансляций</a:t>
            </a:r>
          </a:p>
          <a:p>
            <a:r>
              <a:rPr lang="ru-RU" sz="2800" dirty="0">
                <a:latin typeface="Times New Roman" pitchFamily="18" charset="0"/>
                <a:cs typeface="Times New Roman" pitchFamily="18" charset="0"/>
              </a:rPr>
              <a:t>•	Предоставлять возможность переписки в общем чате трансляции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ru-RU" sz="2800" dirty="0">
                <a:latin typeface="Times New Roman" pitchFamily="18" charset="0"/>
                <a:cs typeface="Times New Roman" pitchFamily="18" charset="0"/>
              </a:rPr>
              <a:t>Предоставлять возможность отслеживать интересуемые каналы</a:t>
            </a: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97DEE970-2311-405D-98A4-6A36A13BC2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77788-E5A7-4255-94F6-739BDA5FC0D4}" type="slidenum">
              <a:rPr lang="ru-RU" smtClean="0"/>
              <a:pPr/>
              <a:t>6</a:t>
            </a:fld>
            <a:r>
              <a:rPr lang="ru-RU"/>
              <a:t>/17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525432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0D7D0BE2-2D2C-4923-8220-23B01E71F7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217978"/>
            <a:ext cx="8229600" cy="1143000"/>
          </a:xfrm>
        </p:spPr>
        <p:txBody>
          <a:bodyPr>
            <a:normAutofit/>
          </a:bodyPr>
          <a:lstStyle/>
          <a:p>
            <a:pPr algn="ctr"/>
            <a:r>
              <a:rPr lang="ru-RU" dirty="0">
                <a:latin typeface="Times New Roman" pitchFamily="18" charset="0"/>
                <a:cs typeface="Times New Roman" pitchFamily="18" charset="0"/>
              </a:rPr>
              <a:t>Средства реализации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5EBCF29-450A-4288-AA41-620B0209AB78}"/>
              </a:ext>
            </a:extLst>
          </p:cNvPr>
          <p:cNvSpPr txBox="1"/>
          <p:nvPr/>
        </p:nvSpPr>
        <p:spPr>
          <a:xfrm>
            <a:off x="1065229" y="1772816"/>
            <a:ext cx="10077253" cy="22198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200" dirty="0" err="1">
                <a:latin typeface="Times New Roman" pitchFamily="18" charset="0"/>
                <a:cs typeface="Times New Roman" pitchFamily="18" charset="0"/>
              </a:rPr>
              <a:t>Ultralytics</a:t>
            </a:r>
            <a:r>
              <a:rPr lang="en-US" sz="3200" dirty="0">
                <a:latin typeface="Times New Roman" pitchFamily="18" charset="0"/>
                <a:cs typeface="Times New Roman" pitchFamily="18" charset="0"/>
              </a:rPr>
              <a:t> YOLO</a:t>
            </a:r>
            <a:endParaRPr lang="ru-RU" sz="3200" dirty="0">
              <a:latin typeface="Times New Roman" pitchFamily="18" charset="0"/>
              <a:cs typeface="Times New Roman" pitchFamily="18" charset="0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3200" dirty="0">
                <a:latin typeface="Times New Roman" pitchFamily="18" charset="0"/>
                <a:cs typeface="Times New Roman" pitchFamily="18" charset="0"/>
              </a:rPr>
              <a:t>Серверная часть: </a:t>
            </a:r>
            <a:r>
              <a:rPr lang="en-US" sz="3200" dirty="0">
                <a:latin typeface="Times New Roman" pitchFamily="18" charset="0"/>
                <a:cs typeface="Times New Roman" pitchFamily="18" charset="0"/>
              </a:rPr>
              <a:t>Python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3200" dirty="0">
                <a:latin typeface="Times New Roman" pitchFamily="18" charset="0"/>
                <a:cs typeface="Times New Roman" pitchFamily="18" charset="0"/>
              </a:rPr>
              <a:t>Клиентская часть:</a:t>
            </a:r>
            <a:endParaRPr lang="en-US" sz="32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32D3499C-CA4B-4025-B4B2-EE8C8AC492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77788-E5A7-4255-94F6-739BDA5FC0D4}" type="slidenum">
              <a:rPr lang="ru-RU" smtClean="0"/>
              <a:pPr/>
              <a:t>7</a:t>
            </a:fld>
            <a:r>
              <a:rPr lang="ru-RU"/>
              <a:t>/17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493756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BDB698-2047-365E-0B13-03B247433B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9CBC5E7F-2257-821F-A824-95518E604A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-19455"/>
            <a:ext cx="8229600" cy="1143000"/>
          </a:xfrm>
        </p:spPr>
        <p:txBody>
          <a:bodyPr>
            <a:normAutofit/>
          </a:bodyPr>
          <a:lstStyle/>
          <a:p>
            <a:pPr algn="ctr"/>
            <a:r>
              <a:rPr lang="ru-RU" dirty="0">
                <a:latin typeface="Times New Roman" pitchFamily="18" charset="0"/>
                <a:cs typeface="Times New Roman" pitchFamily="18" charset="0"/>
              </a:rPr>
              <a:t>Обучение нейросетевой модели</a:t>
            </a: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6FF53F86-867A-A539-1A73-7DE918A85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77788-E5A7-4255-94F6-739BDA5FC0D4}" type="slidenum">
              <a:rPr lang="ru-RU" smtClean="0"/>
              <a:pPr/>
              <a:t>8</a:t>
            </a:fld>
            <a:r>
              <a:rPr lang="ru-RU"/>
              <a:t>/17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148456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724762-471F-45B4-2DAC-2AAB613E98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A4C698A9-5C36-6C05-97EF-2665C29AE5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-103760"/>
            <a:ext cx="8229600" cy="1143000"/>
          </a:xfrm>
        </p:spPr>
        <p:txBody>
          <a:bodyPr>
            <a:normAutofit/>
          </a:bodyPr>
          <a:lstStyle/>
          <a:p>
            <a:pPr algn="ctr"/>
            <a:r>
              <a:rPr lang="ru-RU" dirty="0">
                <a:latin typeface="Times New Roman" pitchFamily="18" charset="0"/>
                <a:cs typeface="Times New Roman" pitchFamily="18" charset="0"/>
              </a:rPr>
              <a:t>Эксперименты</a:t>
            </a: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D1783245-5BA7-AC7E-9457-397128EC1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77788-E5A7-4255-94F6-739BDA5FC0D4}" type="slidenum">
              <a:rPr lang="ru-RU" smtClean="0"/>
              <a:pPr/>
              <a:t>9</a:t>
            </a:fld>
            <a:r>
              <a:rPr lang="ru-RU"/>
              <a:t>/17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FC9D7AF8-D4DD-F8DA-93EB-4C8FB1BAFA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2408" y="791303"/>
            <a:ext cx="6880698" cy="6066697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2859637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08AFB1E6-1180-47CF-AADB-5C4D9D1C94F6}"/>
              </a:ext>
            </a:extLst>
          </p:cNvPr>
          <p:cNvSpPr txBox="1">
            <a:spLocks/>
          </p:cNvSpPr>
          <p:nvPr/>
        </p:nvSpPr>
        <p:spPr>
          <a:xfrm>
            <a:off x="2077039" y="-103626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dirty="0">
                <a:latin typeface="Times New Roman" pitchFamily="18" charset="0"/>
                <a:cs typeface="Times New Roman" pitchFamily="18" charset="0"/>
              </a:rPr>
              <a:t>Диаграмма последовательности</a:t>
            </a: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FE060230-92E3-4D54-B637-036B28A130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77788-E5A7-4255-94F6-739BDA5FC0D4}" type="slidenum">
              <a:rPr lang="ru-RU" smtClean="0"/>
              <a:pPr/>
              <a:t>10</a:t>
            </a:fld>
            <a:r>
              <a:rPr lang="ru-RU"/>
              <a:t>/17</a:t>
            </a:r>
            <a:endParaRPr lang="ru-RU" dirty="0"/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DF28B1EC-F213-12BE-5B6A-DDBE2B2BCA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21672" y="700357"/>
            <a:ext cx="5748655" cy="6092825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922875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0D7D0BE2-2D2C-4923-8220-23B01E71F7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108642"/>
            <a:ext cx="8229600" cy="1143000"/>
          </a:xfrm>
        </p:spPr>
        <p:txBody>
          <a:bodyPr>
            <a:normAutofit/>
          </a:bodyPr>
          <a:lstStyle/>
          <a:p>
            <a:pPr algn="ctr"/>
            <a:r>
              <a:rPr lang="ru-RU" dirty="0">
                <a:latin typeface="Times New Roman" pitchFamily="18" charset="0"/>
                <a:cs typeface="Times New Roman" pitchFamily="18" charset="0"/>
              </a:rPr>
              <a:t>Главная страница</a:t>
            </a: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52418926-B1DE-4141-8419-4A21200C8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77788-E5A7-4255-94F6-739BDA5FC0D4}" type="slidenum">
              <a:rPr lang="ru-RU" smtClean="0"/>
              <a:pPr/>
              <a:t>11</a:t>
            </a:fld>
            <a:r>
              <a:rPr lang="ru-RU"/>
              <a:t>/17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3502378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AADC3CD-C73B-4F09-9A29-317A6DA0C7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02462" y="692782"/>
            <a:ext cx="8229600" cy="1143000"/>
          </a:xfrm>
        </p:spPr>
        <p:txBody>
          <a:bodyPr>
            <a:normAutofit/>
          </a:bodyPr>
          <a:lstStyle/>
          <a:p>
            <a:pPr algn="ctr"/>
            <a:r>
              <a:rPr lang="ru-RU" dirty="0">
                <a:latin typeface="Times New Roman" pitchFamily="18" charset="0"/>
                <a:cs typeface="Times New Roman" pitchFamily="18" charset="0"/>
              </a:rPr>
              <a:t>Тестирование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59DDE73-FC19-4850-A3D6-70FEF85A9B27}"/>
              </a:ext>
            </a:extLst>
          </p:cNvPr>
          <p:cNvSpPr txBox="1"/>
          <p:nvPr/>
        </p:nvSpPr>
        <p:spPr>
          <a:xfrm>
            <a:off x="1365716" y="2775450"/>
            <a:ext cx="10096107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ru-RU" sz="2800" dirty="0">
                <a:latin typeface="Times New Roman" pitchFamily="18" charset="0"/>
                <a:cs typeface="Times New Roman" pitchFamily="18" charset="0"/>
              </a:rPr>
              <a:t>Проверка загрузки модели</a:t>
            </a:r>
          </a:p>
          <a:p>
            <a:pPr marL="514350" indent="-514350">
              <a:buFont typeface="+mj-lt"/>
              <a:buAutoNum type="arabicPeriod"/>
            </a:pPr>
            <a:r>
              <a:rPr lang="ru-RU" sz="2800" dirty="0">
                <a:latin typeface="Times New Roman" pitchFamily="18" charset="0"/>
                <a:cs typeface="Times New Roman" pitchFamily="18" charset="0"/>
              </a:rPr>
              <a:t>Проверка выпадающего меню</a:t>
            </a:r>
          </a:p>
          <a:p>
            <a:pPr marL="514350" indent="-514350">
              <a:buFont typeface="+mj-lt"/>
              <a:buAutoNum type="arabicPeriod"/>
            </a:pPr>
            <a:r>
              <a:rPr lang="ru-RU" sz="2800" dirty="0">
                <a:latin typeface="Times New Roman" pitchFamily="18" charset="0"/>
                <a:cs typeface="Times New Roman" pitchFamily="18" charset="0"/>
              </a:rPr>
              <a:t>Проверка загрузки и обработки изображений</a:t>
            </a:r>
          </a:p>
          <a:p>
            <a:pPr marL="514350" indent="-514350">
              <a:buFont typeface="+mj-lt"/>
              <a:buAutoNum type="arabicPeriod"/>
            </a:pPr>
            <a:r>
              <a:rPr lang="ru-RU" sz="2800" dirty="0">
                <a:latin typeface="Times New Roman" pitchFamily="18" charset="0"/>
                <a:cs typeface="Times New Roman" pitchFamily="18" charset="0"/>
              </a:rPr>
              <a:t>Проверка загрузки и обработки видео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ru-RU" sz="28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533C03AE-3550-4F10-A341-CFEEC4FBB7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77788-E5A7-4255-94F6-739BDA5FC0D4}" type="slidenum">
              <a:rPr lang="ru-RU" smtClean="0"/>
              <a:pPr/>
              <a:t>12</a:t>
            </a:fld>
            <a:r>
              <a:rPr lang="ru-RU"/>
              <a:t>/17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0743684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A8A4B608-0E8D-4D19-95CC-96B22AABEB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63552" y="-88257"/>
            <a:ext cx="8229600" cy="1143000"/>
          </a:xfrm>
        </p:spPr>
        <p:txBody>
          <a:bodyPr>
            <a:normAutofit/>
          </a:bodyPr>
          <a:lstStyle/>
          <a:p>
            <a:pPr algn="ctr"/>
            <a:r>
              <a:rPr lang="ru-RU" dirty="0">
                <a:latin typeface="Times New Roman" pitchFamily="18" charset="0"/>
                <a:cs typeface="Times New Roman" pitchFamily="18" charset="0"/>
              </a:rPr>
              <a:t>Основные результаты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320F45-C413-443E-8EA5-0AEB380657AE}"/>
              </a:ext>
            </a:extLst>
          </p:cNvPr>
          <p:cNvSpPr txBox="1"/>
          <p:nvPr/>
        </p:nvSpPr>
        <p:spPr>
          <a:xfrm>
            <a:off x="1062087" y="963557"/>
            <a:ext cx="10067826" cy="61247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Times New Roman" pitchFamily="18" charset="0"/>
                <a:cs typeface="Times New Roman" pitchFamily="18" charset="0"/>
              </a:rPr>
              <a:t>В рамках данной работы были обучены нейросетевые модели для детекции дорожных объектов. Также было разработано веб-приложение для работы с обученной моделью. </a:t>
            </a:r>
          </a:p>
          <a:p>
            <a:endParaRPr lang="ru-RU" sz="2800" dirty="0">
              <a:latin typeface="Times New Roman" pitchFamily="18" charset="0"/>
              <a:cs typeface="Times New Roman" pitchFamily="18" charset="0"/>
            </a:endParaRPr>
          </a:p>
          <a:p>
            <a:r>
              <a:rPr lang="ru-RU" sz="2800" dirty="0">
                <a:latin typeface="Times New Roman" pitchFamily="18" charset="0"/>
                <a:cs typeface="Times New Roman" pitchFamily="18" charset="0"/>
              </a:rPr>
              <a:t>Были решены следующие задачи:</a:t>
            </a:r>
          </a:p>
          <a:p>
            <a:endParaRPr lang="ru-RU" sz="2800" dirty="0">
              <a:latin typeface="Times New Roman" pitchFamily="18" charset="0"/>
              <a:cs typeface="Times New Roman" pitchFamily="18" charset="0"/>
            </a:endParaRPr>
          </a:p>
          <a:p>
            <a:pPr marL="514350" indent="-514350">
              <a:buAutoNum type="arabicPeriod"/>
            </a:pPr>
            <a:r>
              <a:rPr lang="ru-RU" sz="2800" dirty="0">
                <a:latin typeface="Times New Roman" pitchFamily="18" charset="0"/>
                <a:cs typeface="Times New Roman" pitchFamily="18" charset="0"/>
              </a:rPr>
              <a:t>Найден и дополнительно размечен набор данных.</a:t>
            </a:r>
          </a:p>
          <a:p>
            <a:pPr marL="514350" indent="-514350">
              <a:buAutoNum type="arabicPeriod"/>
            </a:pPr>
            <a:r>
              <a:rPr lang="ru-RU" sz="2800" dirty="0">
                <a:latin typeface="Times New Roman" pitchFamily="18" charset="0"/>
                <a:cs typeface="Times New Roman" pitchFamily="18" charset="0"/>
              </a:rPr>
              <a:t>Дополнен набор данных.</a:t>
            </a:r>
          </a:p>
          <a:p>
            <a:pPr marL="514350" indent="-514350">
              <a:buAutoNum type="arabicPeriod"/>
            </a:pPr>
            <a:r>
              <a:rPr lang="ru-RU" sz="2800" dirty="0">
                <a:latin typeface="Times New Roman" pitchFamily="18" charset="0"/>
                <a:cs typeface="Times New Roman" pitchFamily="18" charset="0"/>
              </a:rPr>
              <a:t>Обучены нейросетевые модели.</a:t>
            </a:r>
          </a:p>
          <a:p>
            <a:pPr marL="514350" indent="-514350">
              <a:buAutoNum type="arabicPeriod"/>
            </a:pPr>
            <a:r>
              <a:rPr lang="ru-RU" sz="2800" dirty="0">
                <a:latin typeface="Times New Roman" pitchFamily="18" charset="0"/>
                <a:cs typeface="Times New Roman" pitchFamily="18" charset="0"/>
              </a:rPr>
              <a:t>Проведены эксперименты и выявлена лучшая модель.</a:t>
            </a:r>
          </a:p>
          <a:p>
            <a:pPr marL="514350" indent="-514350">
              <a:buAutoNum type="arabicPeriod"/>
            </a:pPr>
            <a:r>
              <a:rPr lang="ru-RU" sz="2800" dirty="0">
                <a:latin typeface="Times New Roman" pitchFamily="18" charset="0"/>
                <a:cs typeface="Times New Roman" pitchFamily="18" charset="0"/>
              </a:rPr>
              <a:t>Спроектировано и разработано веб-приложение для использования обученной модели.</a:t>
            </a:r>
          </a:p>
          <a:p>
            <a:pPr marL="514350" indent="-514350">
              <a:buAutoNum type="arabicPeriod"/>
            </a:pPr>
            <a:r>
              <a:rPr lang="ru-RU" sz="2800" dirty="0">
                <a:latin typeface="Times New Roman" pitchFamily="18" charset="0"/>
                <a:cs typeface="Times New Roman" pitchFamily="18" charset="0"/>
              </a:rPr>
              <a:t>Проведено тестирование веб-приложения.</a:t>
            </a:r>
          </a:p>
          <a:p>
            <a:endParaRPr lang="ru-RU" sz="28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A885EAE3-F86D-4669-A7B9-FF57EAD9FD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77788-E5A7-4255-94F6-739BDA5FC0D4}" type="slidenum">
              <a:rPr lang="ru-RU" smtClean="0"/>
              <a:pPr/>
              <a:t>13</a:t>
            </a:fld>
            <a:r>
              <a:rPr lang="ru-RU"/>
              <a:t>/17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032317839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1276</TotalTime>
  <Words>366</Words>
  <Application>Microsoft Office PowerPoint</Application>
  <PresentationFormat>Широкоэкранный</PresentationFormat>
  <Paragraphs>84</Paragraphs>
  <Slides>13</Slides>
  <Notes>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8" baseType="lpstr">
      <vt:lpstr>Arial</vt:lpstr>
      <vt:lpstr>Calibri</vt:lpstr>
      <vt:lpstr>Calibri Light</vt:lpstr>
      <vt:lpstr>Times New Roman</vt:lpstr>
      <vt:lpstr>Тема Office</vt:lpstr>
      <vt:lpstr>Разработка веб-приложения для детекции дорожных объектов</vt:lpstr>
      <vt:lpstr>Актуальность</vt:lpstr>
      <vt:lpstr>Цель и задачи исследования</vt:lpstr>
      <vt:lpstr>Обзор аналогичных проектов</vt:lpstr>
      <vt:lpstr>Обзор аналогичных проектов</vt:lpstr>
      <vt:lpstr>Анализ аналогичных проектов</vt:lpstr>
      <vt:lpstr>Средства реализации</vt:lpstr>
      <vt:lpstr>Обучение нейросетевой модели</vt:lpstr>
      <vt:lpstr>Эксперименты</vt:lpstr>
      <vt:lpstr>Презентация PowerPoint</vt:lpstr>
      <vt:lpstr>Главная страница</vt:lpstr>
      <vt:lpstr>Тестирование</vt:lpstr>
      <vt:lpstr>Основные результаты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веб-приложения «NetMate»</dc:title>
  <dc:creator>Face Man</dc:creator>
  <cp:lastModifiedBy>Face Man</cp:lastModifiedBy>
  <cp:revision>85</cp:revision>
  <dcterms:created xsi:type="dcterms:W3CDTF">2024-06-11T07:29:43Z</dcterms:created>
  <dcterms:modified xsi:type="dcterms:W3CDTF">2025-05-23T11:50:21Z</dcterms:modified>
</cp:coreProperties>
</file>